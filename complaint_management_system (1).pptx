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398079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5872" y="1191"/>
            <a:ext cx="8332256" cy="1571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375"/>
              </a:lnSpc>
              <a:buNone/>
            </a:pPr>
            <a:r>
              <a:rPr lang="en-US" sz="8250" dirty="0">
                <a:solidFill>
                  <a:srgbClr val="10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📨</a:t>
            </a:r>
            <a:endParaRPr lang="en-US" sz="8250" dirty="0"/>
          </a:p>
        </p:txBody>
      </p:sp>
      <p:sp>
        <p:nvSpPr>
          <p:cNvPr id="3" name="Text 1"/>
          <p:cNvSpPr/>
          <p:nvPr/>
        </p:nvSpPr>
        <p:spPr>
          <a:xfrm>
            <a:off x="487561" y="1725216"/>
            <a:ext cx="8168878" cy="2377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360"/>
              </a:lnSpc>
              <a:buNone/>
            </a:pPr>
            <a:r>
              <a:rPr lang="en-US" sz="6240" b="1" dirty="0">
                <a:solidFill>
                  <a:srgbClr val="2563E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Complaint Management System</a:t>
            </a:r>
            <a:endParaRPr lang="en-US" sz="6240" dirty="0"/>
          </a:p>
        </p:txBody>
      </p:sp>
      <p:sp>
        <p:nvSpPr>
          <p:cNvPr id="4" name="Text 2"/>
          <p:cNvSpPr/>
          <p:nvPr/>
        </p:nvSpPr>
        <p:spPr>
          <a:xfrm>
            <a:off x="914400" y="4254996"/>
            <a:ext cx="7315200" cy="5027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980"/>
              </a:lnSpc>
              <a:buNone/>
            </a:pPr>
            <a:r>
              <a:rPr lang="en-US" sz="1320" dirty="0">
                <a:solidFill>
                  <a:srgbClr val="33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software system that records complaints, assigns them to staff, tracks progress, and stores final resolutions in an organized database.</a:t>
            </a:r>
            <a:endParaRPr lang="en-US" sz="1320" dirty="0"/>
          </a:p>
        </p:txBody>
      </p:sp>
      <p:sp>
        <p:nvSpPr>
          <p:cNvPr id="5" name="Text 3"/>
          <p:cNvSpPr/>
          <p:nvPr/>
        </p:nvSpPr>
        <p:spPr>
          <a:xfrm>
            <a:off x="405872" y="4948238"/>
            <a:ext cx="8332256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30"/>
              </a:lnSpc>
              <a:buNone/>
            </a:pPr>
            <a:r>
              <a:rPr lang="en-US" sz="1020" dirty="0">
                <a:solidFill>
                  <a:srgbClr val="5F7A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10-slide classroom presentation</a:t>
            </a:r>
            <a:endParaRPr lang="en-US" sz="10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7561" y="489645"/>
            <a:ext cx="1345853" cy="335161"/>
          </a:xfrm>
          <a:prstGeom prst="roundRect">
            <a:avLst>
              <a:gd name="adj" fmla="val 27255128"/>
            </a:avLst>
          </a:prstGeom>
          <a:solidFill>
            <a:srgbClr val="2563EB">
              <a:alpha val="10000"/>
            </a:srgbClr>
          </a:solidFill>
          <a:ln/>
        </p:spPr>
        <p:txBody>
          <a:bodyPr wrap="square" lIns="133350" tIns="133350" rIns="133350" bIns="133350" rtlCol="0" anchor="t">
            <a:normAutofit fontScale="25000" lnSpcReduction="20000"/>
          </a:bodyPr>
          <a:lstStyle/>
          <a:p>
            <a:pPr marL="0" indent="0" algn="l">
              <a:buNone/>
            </a:pPr>
            <a:r>
              <a:rPr lang="en-US" sz="96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Introduction</a:t>
            </a:r>
            <a:endParaRPr lang="en-US" sz="960" dirty="0"/>
          </a:p>
        </p:txBody>
      </p:sp>
      <p:sp>
        <p:nvSpPr>
          <p:cNvPr id="3" name="Text 1"/>
          <p:cNvSpPr/>
          <p:nvPr/>
        </p:nvSpPr>
        <p:spPr>
          <a:xfrm>
            <a:off x="487561" y="1739205"/>
            <a:ext cx="3932039" cy="2914650"/>
          </a:xfrm>
          <a:prstGeom prst="roundRect">
            <a:avLst>
              <a:gd name="adj" fmla="val 75294"/>
            </a:avLst>
          </a:prstGeom>
          <a:solidFill>
            <a:srgbClr val="FFFFFF">
              <a:alpha val="86000"/>
            </a:srgbClr>
          </a:solidFill>
          <a:ln w="9525">
            <a:solidFill>
              <a:srgbClr val="10233D"/>
            </a:solidFill>
          </a:ln>
          <a:effectLst>
            <a:outerShdw blurRad="428625" dist="171450" dir="5400000" algn="bl" rotWithShape="0">
              <a:srgbClr val="2563EB">
                <a:alpha val="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724400" y="1739205"/>
            <a:ext cx="3932039" cy="2914650"/>
          </a:xfrm>
          <a:prstGeom prst="roundRect">
            <a:avLst>
              <a:gd name="adj" fmla="val 75294"/>
            </a:avLst>
          </a:prstGeom>
          <a:solidFill>
            <a:srgbClr val="FFFFFF">
              <a:alpha val="86000"/>
            </a:srgbClr>
          </a:solidFill>
          <a:ln w="9525">
            <a:solidFill>
              <a:srgbClr val="10233D"/>
            </a:solidFill>
          </a:ln>
          <a:effectLst>
            <a:outerShdw blurRad="428625" dist="171450" dir="5400000" algn="bl" rotWithShape="0">
              <a:srgbClr val="2563EB">
                <a:alpha val="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87561" y="977205"/>
            <a:ext cx="8332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10233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Meaning and need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756954" y="2053530"/>
            <a:ext cx="241438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it is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01886" y="2510730"/>
            <a:ext cx="3303389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3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Stores customer or user complaints in a central system.</a:t>
            </a:r>
            <a:endParaRPr lang="en-US" sz="1350" dirty="0"/>
          </a:p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3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Helps staff assign, update, and close issues step by step.</a:t>
            </a:r>
            <a:endParaRPr lang="en-US" sz="1350" dirty="0"/>
          </a:p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3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Maintains records of status, priority, department, and resolution.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741126" y="2053530"/>
            <a:ext cx="266705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970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needed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038725" y="2510730"/>
            <a:ext cx="3303389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3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Manual complaint registers are slow and error-prone.</a:t>
            </a:r>
            <a:endParaRPr lang="en-US" sz="1350" dirty="0"/>
          </a:p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3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Users need faster support and clear response tracking.</a:t>
            </a:r>
            <a:endParaRPr lang="en-US" sz="1350" dirty="0"/>
          </a:p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3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Management needs reports for service quality improvement.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7561" y="-472380"/>
            <a:ext cx="1135856" cy="335161"/>
          </a:xfrm>
          <a:prstGeom prst="roundRect">
            <a:avLst>
              <a:gd name="adj" fmla="val 27255128"/>
            </a:avLst>
          </a:prstGeom>
          <a:solidFill>
            <a:srgbClr val="2563EB">
              <a:alpha val="10000"/>
            </a:srgbClr>
          </a:solidFill>
          <a:ln/>
        </p:spPr>
        <p:txBody>
          <a:bodyPr wrap="square" lIns="133350" tIns="133350" rIns="133350" bIns="133350" rtlCol="0" anchor="t">
            <a:normAutofit fontScale="25000" lnSpcReduction="20000"/>
          </a:bodyPr>
          <a:lstStyle/>
          <a:p>
            <a:pPr marL="0" indent="0" algn="l">
              <a:buNone/>
            </a:pPr>
            <a:r>
              <a:rPr lang="en-US" sz="96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Objectives</a:t>
            </a:r>
            <a:endParaRPr lang="en-US" sz="960" dirty="0"/>
          </a:p>
        </p:txBody>
      </p:sp>
      <p:sp>
        <p:nvSpPr>
          <p:cNvPr id="3" name="Text 1"/>
          <p:cNvSpPr/>
          <p:nvPr/>
        </p:nvSpPr>
        <p:spPr>
          <a:xfrm>
            <a:off x="487561" y="777180"/>
            <a:ext cx="2570559" cy="2305050"/>
          </a:xfrm>
          <a:prstGeom prst="roundRect">
            <a:avLst>
              <a:gd name="adj" fmla="val 95207"/>
            </a:avLst>
          </a:prstGeom>
          <a:solidFill>
            <a:srgbClr val="FFFFFF">
              <a:alpha val="86000"/>
            </a:srgbClr>
          </a:solidFill>
          <a:ln w="9525">
            <a:solidFill>
              <a:srgbClr val="10233D"/>
            </a:solidFill>
          </a:ln>
          <a:effectLst>
            <a:outerShdw blurRad="428625" dist="171450" dir="5400000" algn="bl" rotWithShape="0">
              <a:srgbClr val="2563EB">
                <a:alpha val="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286720" y="777180"/>
            <a:ext cx="2570559" cy="2305050"/>
          </a:xfrm>
          <a:prstGeom prst="roundRect">
            <a:avLst>
              <a:gd name="adj" fmla="val 95207"/>
            </a:avLst>
          </a:prstGeom>
          <a:solidFill>
            <a:srgbClr val="FFFFFF">
              <a:alpha val="86000"/>
            </a:srgbClr>
          </a:solidFill>
          <a:ln w="9525">
            <a:solidFill>
              <a:srgbClr val="10233D"/>
            </a:solidFill>
          </a:ln>
          <a:effectLst>
            <a:outerShdw blurRad="428625" dist="171450" dir="5400000" algn="bl" rotWithShape="0">
              <a:srgbClr val="2563EB">
                <a:alpha val="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85880" y="777180"/>
            <a:ext cx="2570559" cy="2305050"/>
          </a:xfrm>
          <a:prstGeom prst="roundRect">
            <a:avLst>
              <a:gd name="adj" fmla="val 95207"/>
            </a:avLst>
          </a:prstGeom>
          <a:solidFill>
            <a:srgbClr val="FFFFFF">
              <a:alpha val="86000"/>
            </a:srgbClr>
          </a:solidFill>
          <a:ln w="9525">
            <a:solidFill>
              <a:srgbClr val="10233D"/>
            </a:solidFill>
          </a:ln>
          <a:effectLst>
            <a:outerShdw blurRad="428625" dist="171450" dir="5400000" algn="bl" rotWithShape="0">
              <a:srgbClr val="2563EB">
                <a:alpha val="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11336" y="3196530"/>
            <a:ext cx="2570559" cy="2190750"/>
          </a:xfrm>
          <a:prstGeom prst="roundRect">
            <a:avLst>
              <a:gd name="adj" fmla="val 95207"/>
            </a:avLst>
          </a:prstGeom>
          <a:solidFill>
            <a:srgbClr val="FFFFFF">
              <a:alpha val="86000"/>
            </a:srgbClr>
          </a:solidFill>
          <a:ln w="9525">
            <a:solidFill>
              <a:srgbClr val="10233D"/>
            </a:solidFill>
          </a:ln>
          <a:effectLst>
            <a:outerShdw blurRad="428625" dist="171450" dir="5400000" algn="bl" rotWithShape="0">
              <a:srgbClr val="2563EB">
                <a:alpha val="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286720" y="3310830"/>
            <a:ext cx="2570559" cy="2305050"/>
          </a:xfrm>
          <a:prstGeom prst="roundRect">
            <a:avLst>
              <a:gd name="adj" fmla="val 95207"/>
            </a:avLst>
          </a:prstGeom>
          <a:solidFill>
            <a:srgbClr val="FFFFFF">
              <a:alpha val="86000"/>
            </a:srgbClr>
          </a:solidFill>
          <a:ln w="9525">
            <a:solidFill>
              <a:srgbClr val="10233D"/>
            </a:solidFill>
          </a:ln>
          <a:effectLst>
            <a:outerShdw blurRad="428625" dist="171450" dir="5400000" algn="bl" rotWithShape="0">
              <a:srgbClr val="2563EB">
                <a:alpha val="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85880" y="3310830"/>
            <a:ext cx="2570559" cy="2305050"/>
          </a:xfrm>
          <a:prstGeom prst="roundRect">
            <a:avLst>
              <a:gd name="adj" fmla="val 95207"/>
            </a:avLst>
          </a:prstGeom>
          <a:solidFill>
            <a:srgbClr val="FFFFFF">
              <a:alpha val="86000"/>
            </a:srgbClr>
          </a:solidFill>
          <a:ln w="9525">
            <a:solidFill>
              <a:srgbClr val="10233D"/>
            </a:solidFill>
          </a:ln>
          <a:effectLst>
            <a:outerShdw blurRad="428625" dist="171450" dir="5400000" algn="bl" rotWithShape="0">
              <a:srgbClr val="2563EB">
                <a:alpha val="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87561" y="15180"/>
            <a:ext cx="8332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10233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Main goals of the system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763786" y="1053405"/>
            <a:ext cx="205847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dirty="0">
                <a:solidFill>
                  <a:srgbClr val="10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⚡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763786" y="1548705"/>
            <a:ext cx="205847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0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Quick registration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63786" y="1891605"/>
            <a:ext cx="201810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Allow complaints to be entered with title, description, date, and user details.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562945" y="1053405"/>
            <a:ext cx="205847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dirty="0">
                <a:solidFill>
                  <a:srgbClr val="10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🧭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3562945" y="1548705"/>
            <a:ext cx="205847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0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Proper routing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562945" y="1891605"/>
            <a:ext cx="201810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Send issues to the correct department such as IT, Finance, HR, Sales, or Support.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362105" y="1053405"/>
            <a:ext cx="205847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dirty="0">
                <a:solidFill>
                  <a:srgbClr val="10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📊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6362105" y="1548705"/>
            <a:ext cx="205847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0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Status tracking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362105" y="1891605"/>
            <a:ext cx="201810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Track open, pending, in-progress, and closed complaints with priority levels.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63786" y="3587055"/>
            <a:ext cx="205847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dirty="0">
                <a:solidFill>
                  <a:srgbClr val="10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👨‍💼</a:t>
            </a:r>
            <a:endParaRPr lang="en-US" sz="2700" dirty="0"/>
          </a:p>
        </p:txBody>
      </p:sp>
      <p:sp>
        <p:nvSpPr>
          <p:cNvPr id="20" name="Text 18"/>
          <p:cNvSpPr/>
          <p:nvPr/>
        </p:nvSpPr>
        <p:spPr>
          <a:xfrm>
            <a:off x="763786" y="4082355"/>
            <a:ext cx="205847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0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Admin control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63786" y="4425255"/>
            <a:ext cx="201810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Let administrators view, assign, edit, and resolve complaints efficiently.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562945" y="3587055"/>
            <a:ext cx="205847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dirty="0">
                <a:solidFill>
                  <a:srgbClr val="10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📝</a:t>
            </a:r>
            <a:endParaRPr lang="en-US" sz="2700" dirty="0"/>
          </a:p>
        </p:txBody>
      </p:sp>
      <p:sp>
        <p:nvSpPr>
          <p:cNvPr id="23" name="Text 21"/>
          <p:cNvSpPr/>
          <p:nvPr/>
        </p:nvSpPr>
        <p:spPr>
          <a:xfrm>
            <a:off x="3562945" y="4082355"/>
            <a:ext cx="205847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0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Resolution history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3562945" y="4425255"/>
            <a:ext cx="201810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Store remarks, solution type, date resolved, and user feedback for each case.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362105" y="3587055"/>
            <a:ext cx="205847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dirty="0">
                <a:solidFill>
                  <a:srgbClr val="10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</a:t>
            </a:r>
            <a:endParaRPr lang="en-US" sz="2700" dirty="0"/>
          </a:p>
        </p:txBody>
      </p:sp>
      <p:sp>
        <p:nvSpPr>
          <p:cNvPr id="26" name="Text 24"/>
          <p:cNvSpPr/>
          <p:nvPr/>
        </p:nvSpPr>
        <p:spPr>
          <a:xfrm>
            <a:off x="6362105" y="4082355"/>
            <a:ext cx="205847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0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Better service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362105" y="4425255"/>
            <a:ext cx="201810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Improve transparency, accountability, and customer satisfaction over time.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7561" y="99120"/>
            <a:ext cx="935087" cy="335161"/>
          </a:xfrm>
          <a:prstGeom prst="roundRect">
            <a:avLst>
              <a:gd name="adj" fmla="val 27255128"/>
            </a:avLst>
          </a:prstGeom>
          <a:solidFill>
            <a:srgbClr val="2563EB">
              <a:alpha val="10000"/>
            </a:srgbClr>
          </a:solidFill>
          <a:ln/>
        </p:spPr>
        <p:txBody>
          <a:bodyPr wrap="square" lIns="133350" tIns="133350" rIns="133350" bIns="133350" rtlCol="0" anchor="t">
            <a:normAutofit fontScale="25000" lnSpcReduction="20000"/>
          </a:bodyPr>
          <a:lstStyle/>
          <a:p>
            <a:pPr marL="0" indent="0" algn="l">
              <a:buNone/>
            </a:pPr>
            <a:r>
              <a:rPr lang="en-US" sz="96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Modules</a:t>
            </a:r>
            <a:endParaRPr lang="en-US" sz="960" dirty="0"/>
          </a:p>
        </p:txBody>
      </p:sp>
      <p:sp>
        <p:nvSpPr>
          <p:cNvPr id="3" name="Text 1"/>
          <p:cNvSpPr/>
          <p:nvPr/>
        </p:nvSpPr>
        <p:spPr>
          <a:xfrm>
            <a:off x="487561" y="1348680"/>
            <a:ext cx="3970139" cy="1733550"/>
          </a:xfrm>
          <a:prstGeom prst="roundRect">
            <a:avLst>
              <a:gd name="adj" fmla="val 126593"/>
            </a:avLst>
          </a:prstGeom>
          <a:solidFill>
            <a:srgbClr val="FFFFFF">
              <a:alpha val="86000"/>
            </a:srgbClr>
          </a:solidFill>
          <a:ln w="9525">
            <a:solidFill>
              <a:srgbClr val="10233D"/>
            </a:solidFill>
          </a:ln>
          <a:effectLst>
            <a:outerShdw blurRad="428625" dist="171450" dir="5400000" algn="bl" rotWithShape="0">
              <a:srgbClr val="2563EB">
                <a:alpha val="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686300" y="1348680"/>
            <a:ext cx="3970139" cy="1733550"/>
          </a:xfrm>
          <a:prstGeom prst="roundRect">
            <a:avLst>
              <a:gd name="adj" fmla="val 126593"/>
            </a:avLst>
          </a:prstGeom>
          <a:solidFill>
            <a:srgbClr val="FFFFFF">
              <a:alpha val="86000"/>
            </a:srgbClr>
          </a:solidFill>
          <a:ln w="9525">
            <a:solidFill>
              <a:srgbClr val="10233D"/>
            </a:solidFill>
          </a:ln>
          <a:effectLst>
            <a:outerShdw blurRad="428625" dist="171450" dir="5400000" algn="bl" rotWithShape="0">
              <a:srgbClr val="2563EB">
                <a:alpha val="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87561" y="3310830"/>
            <a:ext cx="3970139" cy="1733550"/>
          </a:xfrm>
          <a:prstGeom prst="roundRect">
            <a:avLst>
              <a:gd name="adj" fmla="val 126593"/>
            </a:avLst>
          </a:prstGeom>
          <a:solidFill>
            <a:srgbClr val="FFFFFF">
              <a:alpha val="86000"/>
            </a:srgbClr>
          </a:solidFill>
          <a:ln w="9525">
            <a:solidFill>
              <a:srgbClr val="10233D"/>
            </a:solidFill>
          </a:ln>
          <a:effectLst>
            <a:outerShdw blurRad="428625" dist="171450" dir="5400000" algn="bl" rotWithShape="0">
              <a:srgbClr val="2563EB">
                <a:alpha val="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686300" y="3310830"/>
            <a:ext cx="3970139" cy="1733550"/>
          </a:xfrm>
          <a:prstGeom prst="roundRect">
            <a:avLst>
              <a:gd name="adj" fmla="val 126593"/>
            </a:avLst>
          </a:prstGeom>
          <a:solidFill>
            <a:srgbClr val="FFFFFF">
              <a:alpha val="86000"/>
            </a:srgbClr>
          </a:solidFill>
          <a:ln w="9525">
            <a:solidFill>
              <a:srgbClr val="10233D"/>
            </a:solidFill>
          </a:ln>
          <a:effectLst>
            <a:outerShdw blurRad="428625" dist="171450" dir="5400000" algn="bl" rotWithShape="0">
              <a:srgbClr val="2563EB">
                <a:alpha val="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87561" y="586680"/>
            <a:ext cx="8332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10233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Core modules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763786" y="1624905"/>
            <a:ext cx="348604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0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 module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63786" y="2005905"/>
            <a:ext cx="3417689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33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Registers users and stores user id, name, email, phone number, address, category, department, and priority level.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962525" y="1624905"/>
            <a:ext cx="348604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0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Complaint module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962525" y="2005905"/>
            <a:ext cx="3417689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33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Captures complaint id, title, description, date filed, status, and related user id.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63786" y="3587055"/>
            <a:ext cx="348604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0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Admin module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63786" y="3968055"/>
            <a:ext cx="3417689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33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Stores admin id, name, email, role, and work shift to manage responsibilities.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962525" y="3587055"/>
            <a:ext cx="348604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0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Resolution module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962525" y="3968055"/>
            <a:ext cx="3417689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33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Records solution type, date resolved, remarks, feedback, complaint id, and admin id.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7561" y="308670"/>
            <a:ext cx="1087785" cy="335161"/>
          </a:xfrm>
          <a:prstGeom prst="roundRect">
            <a:avLst>
              <a:gd name="adj" fmla="val 27255128"/>
            </a:avLst>
          </a:prstGeom>
          <a:solidFill>
            <a:srgbClr val="2563EB">
              <a:alpha val="10000"/>
            </a:srgbClr>
          </a:solidFill>
          <a:ln/>
        </p:spPr>
        <p:txBody>
          <a:bodyPr wrap="square" lIns="133350" tIns="133350" rIns="133350" bIns="133350" rtlCol="0" anchor="t">
            <a:normAutofit fontScale="25000" lnSpcReduction="20000"/>
          </a:bodyPr>
          <a:lstStyle/>
          <a:p>
            <a:pPr marL="0" indent="0" algn="l">
              <a:buNone/>
            </a:pPr>
            <a:r>
              <a:rPr lang="en-US" sz="96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Workflow</a:t>
            </a:r>
            <a:endParaRPr lang="en-US" sz="960" dirty="0"/>
          </a:p>
        </p:txBody>
      </p:sp>
      <p:sp>
        <p:nvSpPr>
          <p:cNvPr id="3" name="Text 1"/>
          <p:cNvSpPr/>
          <p:nvPr/>
        </p:nvSpPr>
        <p:spPr>
          <a:xfrm>
            <a:off x="487561" y="1634430"/>
            <a:ext cx="1511796" cy="1809750"/>
          </a:xfrm>
          <a:prstGeom prst="roundRect">
            <a:avLst>
              <a:gd name="adj" fmla="val 145162"/>
            </a:avLst>
          </a:prstGeom>
          <a:solidFill>
            <a:srgbClr val="FFFFFF">
              <a:alpha val="86000"/>
            </a:srgbClr>
          </a:solidFill>
          <a:ln w="9525">
            <a:solidFill>
              <a:srgbClr val="10233D"/>
            </a:solidFill>
          </a:ln>
          <a:effectLst>
            <a:outerShdw blurRad="428625" dist="171450" dir="5400000" algn="bl" rotWithShape="0">
              <a:srgbClr val="2563EB">
                <a:alpha val="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151757" y="1634430"/>
            <a:ext cx="1511796" cy="1809750"/>
          </a:xfrm>
          <a:prstGeom prst="roundRect">
            <a:avLst>
              <a:gd name="adj" fmla="val 145162"/>
            </a:avLst>
          </a:prstGeom>
          <a:solidFill>
            <a:srgbClr val="FFFFFF">
              <a:alpha val="86000"/>
            </a:srgbClr>
          </a:solidFill>
          <a:ln w="9525">
            <a:solidFill>
              <a:srgbClr val="10233D"/>
            </a:solidFill>
          </a:ln>
          <a:effectLst>
            <a:outerShdw blurRad="428625" dist="171450" dir="5400000" algn="bl" rotWithShape="0">
              <a:srgbClr val="2563EB">
                <a:alpha val="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815953" y="1634430"/>
            <a:ext cx="1511945" cy="1809750"/>
          </a:xfrm>
          <a:prstGeom prst="roundRect">
            <a:avLst>
              <a:gd name="adj" fmla="val 145148"/>
            </a:avLst>
          </a:prstGeom>
          <a:solidFill>
            <a:srgbClr val="FFFFFF">
              <a:alpha val="86000"/>
            </a:srgbClr>
          </a:solidFill>
          <a:ln w="9525">
            <a:solidFill>
              <a:srgbClr val="10233D"/>
            </a:solidFill>
          </a:ln>
          <a:effectLst>
            <a:outerShdw blurRad="428625" dist="171450" dir="5400000" algn="bl" rotWithShape="0">
              <a:srgbClr val="2563EB">
                <a:alpha val="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480298" y="1634430"/>
            <a:ext cx="1511796" cy="1809750"/>
          </a:xfrm>
          <a:prstGeom prst="roundRect">
            <a:avLst>
              <a:gd name="adj" fmla="val 145162"/>
            </a:avLst>
          </a:prstGeom>
          <a:solidFill>
            <a:srgbClr val="FFFFFF">
              <a:alpha val="86000"/>
            </a:srgbClr>
          </a:solidFill>
          <a:ln w="9525">
            <a:solidFill>
              <a:srgbClr val="10233D"/>
            </a:solidFill>
          </a:ln>
          <a:effectLst>
            <a:outerShdw blurRad="428625" dist="171450" dir="5400000" algn="bl" rotWithShape="0">
              <a:srgbClr val="2563EB">
                <a:alpha val="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144494" y="1634430"/>
            <a:ext cx="1511945" cy="1809750"/>
          </a:xfrm>
          <a:prstGeom prst="roundRect">
            <a:avLst>
              <a:gd name="adj" fmla="val 145148"/>
            </a:avLst>
          </a:prstGeom>
          <a:solidFill>
            <a:srgbClr val="FFFFFF">
              <a:alpha val="86000"/>
            </a:srgbClr>
          </a:solidFill>
          <a:ln w="9525">
            <a:solidFill>
              <a:srgbClr val="10233D"/>
            </a:solidFill>
          </a:ln>
          <a:effectLst>
            <a:outerShdw blurRad="428625" dist="171450" dir="5400000" algn="bl" rotWithShape="0">
              <a:srgbClr val="2563EB">
                <a:alpha val="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87561" y="3748980"/>
            <a:ext cx="8168878" cy="1085850"/>
          </a:xfrm>
          <a:prstGeom prst="roundRect">
            <a:avLst>
              <a:gd name="adj" fmla="val 202105"/>
            </a:avLst>
          </a:prstGeom>
          <a:solidFill>
            <a:srgbClr val="FFFFFF">
              <a:alpha val="86000"/>
            </a:srgbClr>
          </a:solidFill>
          <a:ln w="9525">
            <a:solidFill>
              <a:srgbClr val="10233D"/>
            </a:solidFill>
          </a:ln>
          <a:effectLst>
            <a:outerShdw blurRad="428625" dist="171450" dir="5400000" algn="bl" rotWithShape="0">
              <a:srgbClr val="2563EB">
                <a:alpha val="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87561" y="796230"/>
            <a:ext cx="8332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10233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How the system works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676468" y="1834455"/>
            <a:ext cx="113398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2700" dirty="0">
                <a:solidFill>
                  <a:srgbClr val="10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687586" y="2329755"/>
            <a:ext cx="111174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0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Complaint filed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7586" y="2863155"/>
            <a:ext cx="111174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33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 submits issue details.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340665" y="1834455"/>
            <a:ext cx="113398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2700" dirty="0">
                <a:solidFill>
                  <a:srgbClr val="10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2340665" y="2329755"/>
            <a:ext cx="113398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0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Registered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351782" y="2634555"/>
            <a:ext cx="1111746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33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 generates complaint id.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004859" y="1834455"/>
            <a:ext cx="1134133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2700" dirty="0">
                <a:solidFill>
                  <a:srgbClr val="10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4004859" y="2329755"/>
            <a:ext cx="113413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0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Assigned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015978" y="2634555"/>
            <a:ext cx="111189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33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Admin routes case to department.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669206" y="1834455"/>
            <a:ext cx="113398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2700" dirty="0">
                <a:solidFill>
                  <a:srgbClr val="10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2700" dirty="0"/>
          </a:p>
        </p:txBody>
      </p:sp>
      <p:sp>
        <p:nvSpPr>
          <p:cNvPr id="20" name="Text 18"/>
          <p:cNvSpPr/>
          <p:nvPr/>
        </p:nvSpPr>
        <p:spPr>
          <a:xfrm>
            <a:off x="5669206" y="2329755"/>
            <a:ext cx="113398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0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Resolved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680323" y="2634555"/>
            <a:ext cx="1111746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33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Action is taken and remarks are stored.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333400" y="1834455"/>
            <a:ext cx="1134133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2700" dirty="0">
                <a:solidFill>
                  <a:srgbClr val="10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2700" dirty="0"/>
          </a:p>
        </p:txBody>
      </p:sp>
      <p:sp>
        <p:nvSpPr>
          <p:cNvPr id="23" name="Text 21"/>
          <p:cNvSpPr/>
          <p:nvPr/>
        </p:nvSpPr>
        <p:spPr>
          <a:xfrm>
            <a:off x="7333400" y="2329755"/>
            <a:ext cx="113413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0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Closed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344519" y="2634555"/>
            <a:ext cx="111189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33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Feedback is saved for review.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63786" y="4025205"/>
            <a:ext cx="7616428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33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Typical status flow: </a:t>
            </a:r>
            <a:r>
              <a:rPr lang="en-US" sz="135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→ Pending → In Progress → Closed</a:t>
            </a:r>
            <a:r>
              <a:rPr lang="en-US" sz="1350" dirty="0">
                <a:solidFill>
                  <a:srgbClr val="33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This makes every complaint traceable from start to finish.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7561" y="116979"/>
            <a:ext cx="1565672" cy="335161"/>
          </a:xfrm>
          <a:prstGeom prst="roundRect">
            <a:avLst>
              <a:gd name="adj" fmla="val 27255128"/>
            </a:avLst>
          </a:prstGeom>
          <a:solidFill>
            <a:srgbClr val="2563EB">
              <a:alpha val="10000"/>
            </a:srgbClr>
          </a:solidFill>
          <a:ln/>
        </p:spPr>
        <p:txBody>
          <a:bodyPr wrap="square" lIns="133350" tIns="133350" rIns="133350" bIns="133350" rtlCol="0" anchor="t">
            <a:normAutofit fontScale="25000" lnSpcReduction="20000"/>
          </a:bodyPr>
          <a:lstStyle/>
          <a:p>
            <a:pPr marL="0" indent="0" algn="l">
              <a:buNone/>
            </a:pPr>
            <a:r>
              <a:rPr lang="en-US" sz="96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design</a:t>
            </a:r>
            <a:endParaRPr lang="en-US" sz="960" dirty="0"/>
          </a:p>
        </p:txBody>
      </p:sp>
      <p:sp>
        <p:nvSpPr>
          <p:cNvPr id="3" name="Text 1"/>
          <p:cNvSpPr/>
          <p:nvPr/>
        </p:nvSpPr>
        <p:spPr>
          <a:xfrm>
            <a:off x="487561" y="1366540"/>
            <a:ext cx="3932039" cy="3660130"/>
          </a:xfrm>
          <a:prstGeom prst="roundRect">
            <a:avLst>
              <a:gd name="adj" fmla="val 59959"/>
            </a:avLst>
          </a:prstGeom>
          <a:solidFill>
            <a:srgbClr val="FFFFFF">
              <a:alpha val="86000"/>
            </a:srgbClr>
          </a:solidFill>
          <a:ln w="9525">
            <a:solidFill>
              <a:srgbClr val="10233D"/>
            </a:solidFill>
          </a:ln>
          <a:effectLst>
            <a:outerShdw blurRad="428625" dist="171450" dir="5400000" algn="bl" rotWithShape="0">
              <a:srgbClr val="2563EB">
                <a:alpha val="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724400" y="1366540"/>
            <a:ext cx="3932039" cy="3660130"/>
          </a:xfrm>
          <a:prstGeom prst="roundRect">
            <a:avLst>
              <a:gd name="adj" fmla="val 59959"/>
            </a:avLst>
          </a:prstGeom>
          <a:solidFill>
            <a:srgbClr val="FFFFFF">
              <a:alpha val="86000"/>
            </a:srgbClr>
          </a:solidFill>
          <a:ln w="9525">
            <a:solidFill>
              <a:srgbClr val="10233D"/>
            </a:solidFill>
          </a:ln>
          <a:effectLst>
            <a:outerShdw blurRad="428625" dist="171450" dir="5400000" algn="bl" rotWithShape="0">
              <a:srgbClr val="2563EB">
                <a:alpha val="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144375"/>
              </p:ext>
            </p:extLst>
          </p:nvPr>
        </p:nvGraphicFramePr>
        <p:xfrm>
          <a:off x="1026942" y="2099965"/>
          <a:ext cx="2845190" cy="2323081"/>
        </p:xfrm>
        <a:graphic>
          <a:graphicData uri="http://schemas.openxmlformats.org/drawingml/2006/table">
            <a:tbl>
              <a:tblPr/>
              <a:tblGrid>
                <a:gridCol w="12934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17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17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36" b="1" dirty="0">
                          <a:solidFill>
                            <a:srgbClr val="2563E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Table</a:t>
                      </a:r>
                      <a:endParaRPr lang="en-US" sz="936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02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36" b="1" dirty="0">
                          <a:solidFill>
                            <a:srgbClr val="2563E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Purpose</a:t>
                      </a:r>
                      <a:endParaRPr lang="en-US" sz="936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02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7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4" dirty="0">
                          <a:solidFill>
                            <a:srgbClr val="1023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User</a:t>
                      </a:r>
                      <a:endParaRPr lang="en-US" sz="1104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02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4" dirty="0">
                          <a:solidFill>
                            <a:srgbClr val="1023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Stores customer details and category.</a:t>
                      </a:r>
                      <a:endParaRPr lang="en-US" sz="1104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02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640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4" dirty="0">
                          <a:solidFill>
                            <a:srgbClr val="1023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Complaint</a:t>
                      </a:r>
                      <a:endParaRPr lang="en-US" sz="1104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02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4" dirty="0">
                          <a:solidFill>
                            <a:srgbClr val="1023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Stores issue information and status.</a:t>
                      </a:r>
                      <a:endParaRPr lang="en-US" sz="1104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02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17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4" dirty="0">
                          <a:solidFill>
                            <a:srgbClr val="1023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Admin</a:t>
                      </a:r>
                      <a:endParaRPr lang="en-US" sz="1104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02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4" dirty="0">
                          <a:solidFill>
                            <a:srgbClr val="1023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Stores staff roles and shifts.</a:t>
                      </a:r>
                      <a:endParaRPr lang="en-US" sz="1104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02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17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4" dirty="0">
                          <a:solidFill>
                            <a:srgbClr val="1023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Resolution</a:t>
                      </a:r>
                      <a:endParaRPr lang="en-US" sz="1104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02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4" dirty="0">
                          <a:solidFill>
                            <a:srgbClr val="1023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Stores final solution and feedback.</a:t>
                      </a:r>
                      <a:endParaRPr lang="en-US" sz="1104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02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87561" y="604540"/>
            <a:ext cx="8332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10233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Tables used in the project</a:t>
            </a:r>
            <a:endParaRPr lang="en-US" sz="3600" dirty="0"/>
          </a:p>
        </p:txBody>
      </p:sp>
      <p:sp>
        <p:nvSpPr>
          <p:cNvPr id="5" name="Text 4"/>
          <p:cNvSpPr/>
          <p:nvPr/>
        </p:nvSpPr>
        <p:spPr>
          <a:xfrm>
            <a:off x="1553444" y="1686892"/>
            <a:ext cx="344718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0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Main entities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5810522" y="1642765"/>
            <a:ext cx="344718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0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Relationships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106133" y="2423305"/>
            <a:ext cx="3379589" cy="167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3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user can create many complaints.</a:t>
            </a:r>
            <a:endParaRPr lang="en-US" sz="1350" dirty="0"/>
          </a:p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3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complaint belongs to one user.</a:t>
            </a:r>
            <a:endParaRPr lang="en-US" sz="1350" dirty="0"/>
          </a:p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3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admin can resolve many complaints.</a:t>
            </a:r>
            <a:endParaRPr lang="en-US" sz="1350" dirty="0"/>
          </a:p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3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resolution links one complaint with one admin.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7561" y="-753814"/>
            <a:ext cx="1240780" cy="335161"/>
          </a:xfrm>
          <a:prstGeom prst="roundRect">
            <a:avLst>
              <a:gd name="adj" fmla="val 27255128"/>
            </a:avLst>
          </a:prstGeom>
          <a:solidFill>
            <a:srgbClr val="2563EB">
              <a:alpha val="10000"/>
            </a:srgbClr>
          </a:solidFill>
          <a:ln/>
        </p:spPr>
        <p:txBody>
          <a:bodyPr wrap="square" lIns="133350" tIns="133350" rIns="133350" bIns="133350" rtlCol="0" anchor="t">
            <a:normAutofit fontScale="25000" lnSpcReduction="20000"/>
          </a:bodyPr>
          <a:lstStyle/>
          <a:p>
            <a:pPr marL="0" indent="0" algn="l">
              <a:buNone/>
            </a:pPr>
            <a:r>
              <a:rPr lang="en-US" sz="96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Sample data</a:t>
            </a:r>
            <a:endParaRPr lang="en-US" sz="960" dirty="0"/>
          </a:p>
        </p:txBody>
      </p:sp>
      <p:sp>
        <p:nvSpPr>
          <p:cNvPr id="3" name="Text 1"/>
          <p:cNvSpPr/>
          <p:nvPr/>
        </p:nvSpPr>
        <p:spPr>
          <a:xfrm>
            <a:off x="291828" y="590996"/>
            <a:ext cx="2595860" cy="1733550"/>
          </a:xfrm>
          <a:prstGeom prst="roundRect">
            <a:avLst>
              <a:gd name="adj" fmla="val 126593"/>
            </a:avLst>
          </a:prstGeom>
          <a:solidFill>
            <a:srgbClr val="FFFFFF">
              <a:alpha val="86000"/>
            </a:srgbClr>
          </a:solidFill>
          <a:ln w="9525">
            <a:solidFill>
              <a:srgbClr val="10233D"/>
            </a:solidFill>
          </a:ln>
          <a:effectLst>
            <a:outerShdw blurRad="428625" dist="171450" dir="5400000" algn="bl" rotWithShape="0">
              <a:srgbClr val="2563EB">
                <a:alpha val="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035796" y="590996"/>
            <a:ext cx="2596009" cy="1733550"/>
          </a:xfrm>
          <a:prstGeom prst="roundRect">
            <a:avLst>
              <a:gd name="adj" fmla="val 126593"/>
            </a:avLst>
          </a:prstGeom>
          <a:solidFill>
            <a:srgbClr val="FFFFFF">
              <a:alpha val="86000"/>
            </a:srgbClr>
          </a:solidFill>
          <a:ln w="9525">
            <a:solidFill>
              <a:srgbClr val="10233D"/>
            </a:solidFill>
          </a:ln>
          <a:effectLst>
            <a:outerShdw blurRad="428625" dist="171450" dir="5400000" algn="bl" rotWithShape="0">
              <a:srgbClr val="2563EB">
                <a:alpha val="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846191" y="573271"/>
            <a:ext cx="2595860" cy="1733550"/>
          </a:xfrm>
          <a:prstGeom prst="roundRect">
            <a:avLst>
              <a:gd name="adj" fmla="val 126593"/>
            </a:avLst>
          </a:prstGeom>
          <a:solidFill>
            <a:srgbClr val="FFFFFF">
              <a:alpha val="86000"/>
            </a:srgbClr>
          </a:solidFill>
          <a:ln w="9525">
            <a:solidFill>
              <a:srgbClr val="10233D"/>
            </a:solidFill>
          </a:ln>
          <a:effectLst>
            <a:outerShdw blurRad="428625" dist="171450" dir="5400000" algn="bl" rotWithShape="0">
              <a:srgbClr val="2563EB">
                <a:alpha val="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98627" y="2443212"/>
            <a:ext cx="8168878" cy="2982367"/>
          </a:xfrm>
          <a:prstGeom prst="roundRect">
            <a:avLst>
              <a:gd name="adj" fmla="val 73585"/>
            </a:avLst>
          </a:prstGeom>
          <a:solidFill>
            <a:srgbClr val="FFFFFF">
              <a:alpha val="86000"/>
            </a:srgbClr>
          </a:solidFill>
          <a:ln w="9525">
            <a:solidFill>
              <a:srgbClr val="10233D"/>
            </a:solidFill>
          </a:ln>
          <a:effectLst>
            <a:outerShdw blurRad="428625" dist="171450" dir="5400000" algn="bl" rotWithShape="0">
              <a:srgbClr val="2563EB">
                <a:alpha val="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849355"/>
              </p:ext>
            </p:extLst>
          </p:nvPr>
        </p:nvGraphicFramePr>
        <p:xfrm>
          <a:off x="917931" y="2732574"/>
          <a:ext cx="7153394" cy="2335926"/>
        </p:xfrm>
        <a:graphic>
          <a:graphicData uri="http://schemas.openxmlformats.org/drawingml/2006/table">
            <a:tbl>
              <a:tblPr/>
              <a:tblGrid>
                <a:gridCol w="15589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648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648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6482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932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36" b="1" dirty="0">
                          <a:solidFill>
                            <a:srgbClr val="2563E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Complaint ID</a:t>
                      </a:r>
                      <a:endParaRPr lang="en-US" sz="936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02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36" b="1" dirty="0">
                          <a:solidFill>
                            <a:srgbClr val="2563E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Title</a:t>
                      </a:r>
                      <a:endParaRPr lang="en-US" sz="936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02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36" b="1" dirty="0">
                          <a:solidFill>
                            <a:srgbClr val="2563E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Status</a:t>
                      </a:r>
                      <a:endParaRPr lang="en-US" sz="936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02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36" b="1" dirty="0">
                          <a:solidFill>
                            <a:srgbClr val="2563E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User ID</a:t>
                      </a:r>
                      <a:endParaRPr lang="en-US" sz="936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02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932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4" dirty="0">
                          <a:solidFill>
                            <a:srgbClr val="1023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1001</a:t>
                      </a:r>
                      <a:endParaRPr lang="en-US" sz="1104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02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4" dirty="0">
                          <a:solidFill>
                            <a:srgbClr val="1023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No Internet</a:t>
                      </a:r>
                      <a:endParaRPr lang="en-US" sz="1104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02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4" dirty="0">
                          <a:solidFill>
                            <a:srgbClr val="1023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Closed</a:t>
                      </a:r>
                      <a:endParaRPr lang="en-US" sz="1104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02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4" dirty="0">
                          <a:solidFill>
                            <a:srgbClr val="1023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101</a:t>
                      </a:r>
                      <a:endParaRPr lang="en-US" sz="1104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02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932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4" dirty="0">
                          <a:solidFill>
                            <a:srgbClr val="1023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1002</a:t>
                      </a:r>
                      <a:endParaRPr lang="en-US" sz="1104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02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4" dirty="0">
                          <a:solidFill>
                            <a:srgbClr val="1023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Double Bill</a:t>
                      </a:r>
                      <a:endParaRPr lang="en-US" sz="1104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02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4" dirty="0">
                          <a:solidFill>
                            <a:srgbClr val="1023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Pending</a:t>
                      </a:r>
                      <a:endParaRPr lang="en-US" sz="1104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02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4" dirty="0">
                          <a:solidFill>
                            <a:srgbClr val="1023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102</a:t>
                      </a:r>
                      <a:endParaRPr lang="en-US" sz="1104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02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932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4" dirty="0">
                          <a:solidFill>
                            <a:srgbClr val="1023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1003</a:t>
                      </a:r>
                      <a:endParaRPr lang="en-US" sz="1104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02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4" dirty="0">
                          <a:solidFill>
                            <a:srgbClr val="1023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Mouse Broken</a:t>
                      </a:r>
                      <a:endParaRPr lang="en-US" sz="1104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02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4" dirty="0">
                          <a:solidFill>
                            <a:srgbClr val="1023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Open</a:t>
                      </a:r>
                      <a:endParaRPr lang="en-US" sz="1104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02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4" dirty="0">
                          <a:solidFill>
                            <a:srgbClr val="1023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103</a:t>
                      </a:r>
                      <a:endParaRPr lang="en-US" sz="1104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02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932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4" dirty="0">
                          <a:solidFill>
                            <a:srgbClr val="1023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1004</a:t>
                      </a:r>
                      <a:endParaRPr lang="en-US" sz="1104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02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4" dirty="0">
                          <a:solidFill>
                            <a:srgbClr val="1023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App Lag</a:t>
                      </a:r>
                      <a:endParaRPr lang="en-US" sz="1104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02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4" dirty="0">
                          <a:solidFill>
                            <a:srgbClr val="1023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In Progress</a:t>
                      </a:r>
                      <a:endParaRPr lang="en-US" sz="1104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02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4" dirty="0">
                          <a:solidFill>
                            <a:srgbClr val="1023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104</a:t>
                      </a:r>
                      <a:endParaRPr lang="en-US" sz="1104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02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932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4" dirty="0">
                          <a:solidFill>
                            <a:srgbClr val="1023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1005</a:t>
                      </a:r>
                      <a:endParaRPr lang="en-US" sz="1104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02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4" dirty="0">
                          <a:solidFill>
                            <a:srgbClr val="1023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Login Fail</a:t>
                      </a:r>
                      <a:endParaRPr lang="en-US" sz="1104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02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4" dirty="0">
                          <a:solidFill>
                            <a:srgbClr val="1023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Open</a:t>
                      </a:r>
                      <a:endParaRPr lang="en-US" sz="1104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02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4" dirty="0">
                          <a:solidFill>
                            <a:srgbClr val="1023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105</a:t>
                      </a:r>
                      <a:endParaRPr lang="en-US" sz="1104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02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5"/>
          <p:cNvSpPr/>
          <p:nvPr/>
        </p:nvSpPr>
        <p:spPr>
          <a:xfrm>
            <a:off x="594359" y="103960"/>
            <a:ext cx="8062079" cy="54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10233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Example </a:t>
            </a:r>
            <a:endParaRPr lang="en-US" sz="3600" dirty="0"/>
          </a:p>
        </p:txBody>
      </p:sp>
      <p:sp>
        <p:nvSpPr>
          <p:cNvPr id="9" name="Text 6"/>
          <p:cNvSpPr/>
          <p:nvPr/>
        </p:nvSpPr>
        <p:spPr>
          <a:xfrm>
            <a:off x="1350044" y="600521"/>
            <a:ext cx="216200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0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94359" y="1036554"/>
            <a:ext cx="211961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Rahul, Sita, Amit, Sara, and John are stored with department and priority details.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898276" y="662434"/>
            <a:ext cx="216215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0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Complaints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3376245" y="1056284"/>
            <a:ext cx="211975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Examples include No Internet, Double Bill, Mouse Broken, App Lag, and Login Fail.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856931" y="648146"/>
            <a:ext cx="216200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0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Admins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334897" y="1104021"/>
            <a:ext cx="211961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Roles include Manager, Support, Tech Lead, Agent, and Clerk with work shifts.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7561" y="575370"/>
            <a:ext cx="944910" cy="335161"/>
          </a:xfrm>
          <a:prstGeom prst="roundRect">
            <a:avLst>
              <a:gd name="adj" fmla="val 27255128"/>
            </a:avLst>
          </a:prstGeom>
          <a:solidFill>
            <a:srgbClr val="2563EB">
              <a:alpha val="10000"/>
            </a:srgbClr>
          </a:solidFill>
          <a:ln/>
        </p:spPr>
        <p:txBody>
          <a:bodyPr wrap="square" lIns="133350" tIns="133350" rIns="133350" bIns="133350" rtlCol="0" anchor="t">
            <a:normAutofit fontScale="25000" lnSpcReduction="20000"/>
          </a:bodyPr>
          <a:lstStyle/>
          <a:p>
            <a:pPr marL="0" indent="0" algn="l">
              <a:buNone/>
            </a:pPr>
            <a:r>
              <a:rPr lang="en-US" sz="96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Benefits</a:t>
            </a:r>
            <a:endParaRPr lang="en-US" sz="960" dirty="0"/>
          </a:p>
        </p:txBody>
      </p:sp>
      <p:sp>
        <p:nvSpPr>
          <p:cNvPr id="3" name="Text 1"/>
          <p:cNvSpPr/>
          <p:nvPr/>
        </p:nvSpPr>
        <p:spPr>
          <a:xfrm>
            <a:off x="487561" y="1824930"/>
            <a:ext cx="3932039" cy="1276350"/>
          </a:xfrm>
          <a:prstGeom prst="roundRect">
            <a:avLst>
              <a:gd name="adj" fmla="val 171940"/>
            </a:avLst>
          </a:prstGeom>
          <a:solidFill>
            <a:srgbClr val="FFFFFF">
              <a:alpha val="86000"/>
            </a:srgbClr>
          </a:solidFill>
          <a:ln w="9525">
            <a:solidFill>
              <a:srgbClr val="10233D"/>
            </a:solidFill>
          </a:ln>
          <a:effectLst>
            <a:outerShdw blurRad="428625" dist="171450" dir="5400000" algn="bl" rotWithShape="0">
              <a:srgbClr val="2563EB">
                <a:alpha val="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87561" y="3291780"/>
            <a:ext cx="3932039" cy="1276350"/>
          </a:xfrm>
          <a:prstGeom prst="roundRect">
            <a:avLst>
              <a:gd name="adj" fmla="val 171940"/>
            </a:avLst>
          </a:prstGeom>
          <a:solidFill>
            <a:srgbClr val="FFFFFF">
              <a:alpha val="86000"/>
            </a:srgbClr>
          </a:solidFill>
          <a:ln w="9525">
            <a:solidFill>
              <a:srgbClr val="10233D"/>
            </a:solidFill>
          </a:ln>
          <a:effectLst>
            <a:outerShdw blurRad="428625" dist="171450" dir="5400000" algn="bl" rotWithShape="0">
              <a:srgbClr val="2563EB">
                <a:alpha val="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724400" y="1824930"/>
            <a:ext cx="3932039" cy="1276350"/>
          </a:xfrm>
          <a:prstGeom prst="roundRect">
            <a:avLst>
              <a:gd name="adj" fmla="val 171940"/>
            </a:avLst>
          </a:prstGeom>
          <a:solidFill>
            <a:srgbClr val="FFFFFF">
              <a:alpha val="86000"/>
            </a:srgbClr>
          </a:solidFill>
          <a:ln w="9525">
            <a:solidFill>
              <a:srgbClr val="10233D"/>
            </a:solidFill>
          </a:ln>
          <a:effectLst>
            <a:outerShdw blurRad="428625" dist="171450" dir="5400000" algn="bl" rotWithShape="0">
              <a:srgbClr val="2563EB">
                <a:alpha val="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724400" y="3291780"/>
            <a:ext cx="3932039" cy="1276350"/>
          </a:xfrm>
          <a:prstGeom prst="roundRect">
            <a:avLst>
              <a:gd name="adj" fmla="val 171940"/>
            </a:avLst>
          </a:prstGeom>
          <a:solidFill>
            <a:srgbClr val="FFFFFF">
              <a:alpha val="86000"/>
            </a:srgbClr>
          </a:solidFill>
          <a:ln w="9525">
            <a:solidFill>
              <a:srgbClr val="10233D"/>
            </a:solidFill>
          </a:ln>
          <a:effectLst>
            <a:outerShdw blurRad="428625" dist="171450" dir="5400000" algn="bl" rotWithShape="0">
              <a:srgbClr val="2563EB">
                <a:alpha val="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87561" y="1062930"/>
            <a:ext cx="8332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10233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Advantages of the system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725686" y="2063055"/>
            <a:ext cx="352490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0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Improved efficiency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25686" y="2405955"/>
            <a:ext cx="345578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Reduces paper work and avoids duplicate complaint handling.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25686" y="3529905"/>
            <a:ext cx="352490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0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Better tracking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25686" y="3872805"/>
            <a:ext cx="345578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complaint has a status, responsible person, and history.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62525" y="2063055"/>
            <a:ext cx="352490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0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Faster resolution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962525" y="2405955"/>
            <a:ext cx="345578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Priority and department mapping help in quicker action.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62525" y="3529905"/>
            <a:ext cx="352490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0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 quality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962525" y="3872805"/>
            <a:ext cx="345578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Feedback data helps management improve support performance.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7561" y="-529530"/>
            <a:ext cx="1727746" cy="335161"/>
          </a:xfrm>
          <a:prstGeom prst="roundRect">
            <a:avLst>
              <a:gd name="adj" fmla="val 27255128"/>
            </a:avLst>
          </a:prstGeom>
          <a:solidFill>
            <a:srgbClr val="2563EB">
              <a:alpha val="10000"/>
            </a:srgbClr>
          </a:solidFill>
          <a:ln/>
        </p:spPr>
        <p:txBody>
          <a:bodyPr wrap="square" lIns="133350" tIns="133350" rIns="133350" bIns="133350" rtlCol="0" anchor="t">
            <a:normAutofit fontScale="25000" lnSpcReduction="20000"/>
          </a:bodyPr>
          <a:lstStyle/>
          <a:p>
            <a:pPr marL="0" indent="0" algn="l">
              <a:buNone/>
            </a:pPr>
            <a:r>
              <a:rPr lang="en-US" sz="96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Performance view</a:t>
            </a:r>
            <a:endParaRPr lang="en-US" sz="960" dirty="0"/>
          </a:p>
        </p:txBody>
      </p:sp>
      <p:sp>
        <p:nvSpPr>
          <p:cNvPr id="3" name="Text 1"/>
          <p:cNvSpPr/>
          <p:nvPr/>
        </p:nvSpPr>
        <p:spPr>
          <a:xfrm>
            <a:off x="487561" y="1177230"/>
            <a:ext cx="2595860" cy="1238250"/>
          </a:xfrm>
          <a:prstGeom prst="roundRect">
            <a:avLst>
              <a:gd name="adj" fmla="val 177231"/>
            </a:avLst>
          </a:prstGeom>
          <a:solidFill>
            <a:srgbClr val="FFFFFF">
              <a:alpha val="86000"/>
            </a:srgbClr>
          </a:solidFill>
          <a:ln w="9525">
            <a:solidFill>
              <a:srgbClr val="10233D"/>
            </a:solidFill>
          </a:ln>
          <a:effectLst>
            <a:outerShdw blurRad="428625" dist="171450" dir="5400000" algn="bl" rotWithShape="0">
              <a:srgbClr val="2563EB">
                <a:alpha val="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273921" y="1177230"/>
            <a:ext cx="2596009" cy="1238250"/>
          </a:xfrm>
          <a:prstGeom prst="roundRect">
            <a:avLst>
              <a:gd name="adj" fmla="val 177231"/>
            </a:avLst>
          </a:prstGeom>
          <a:solidFill>
            <a:srgbClr val="FFFFFF">
              <a:alpha val="86000"/>
            </a:srgbClr>
          </a:solidFill>
          <a:ln w="9525">
            <a:solidFill>
              <a:srgbClr val="10233D"/>
            </a:solidFill>
          </a:ln>
          <a:effectLst>
            <a:outerShdw blurRad="428625" dist="171450" dir="5400000" algn="bl" rotWithShape="0">
              <a:srgbClr val="2563EB">
                <a:alpha val="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60430" y="1177230"/>
            <a:ext cx="2595860" cy="1238250"/>
          </a:xfrm>
          <a:prstGeom prst="roundRect">
            <a:avLst>
              <a:gd name="adj" fmla="val 177231"/>
            </a:avLst>
          </a:prstGeom>
          <a:solidFill>
            <a:srgbClr val="FFFFFF">
              <a:alpha val="86000"/>
            </a:srgbClr>
          </a:solidFill>
          <a:ln w="9525">
            <a:solidFill>
              <a:srgbClr val="10233D"/>
            </a:solidFill>
          </a:ln>
          <a:effectLst>
            <a:outerShdw blurRad="428625" dist="171450" dir="5400000" algn="bl" rotWithShape="0">
              <a:srgbClr val="2563EB">
                <a:alpha val="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96615" y="2815530"/>
            <a:ext cx="8168878" cy="2952750"/>
          </a:xfrm>
          <a:prstGeom prst="roundRect">
            <a:avLst>
              <a:gd name="adj" fmla="val 74323"/>
            </a:avLst>
          </a:prstGeom>
          <a:solidFill>
            <a:srgbClr val="FFFFFF">
              <a:alpha val="86000"/>
            </a:srgbClr>
          </a:solidFill>
          <a:ln w="9525">
            <a:solidFill>
              <a:srgbClr val="10233D"/>
            </a:solidFill>
          </a:ln>
          <a:effectLst>
            <a:outerShdw blurRad="428625" dist="171450" dir="5400000" algn="bl" rotWithShape="0">
              <a:srgbClr val="2563EB">
                <a:alpha val="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>
              <a:highlight>
                <a:srgbClr val="FFFF00"/>
              </a:highlight>
            </a:endParaRPr>
          </a:p>
        </p:txBody>
      </p:sp>
      <p:sp>
        <p:nvSpPr>
          <p:cNvPr id="7" name="Text 5"/>
          <p:cNvSpPr/>
          <p:nvPr/>
        </p:nvSpPr>
        <p:spPr>
          <a:xfrm flipV="1">
            <a:off x="1012874" y="3282255"/>
            <a:ext cx="6843932" cy="198180"/>
          </a:xfrm>
          <a:prstGeom prst="roundRect">
            <a:avLst>
              <a:gd name="adj" fmla="val 59940000"/>
            </a:avLst>
          </a:prstGeom>
          <a:solidFill>
            <a:schemeClr val="accent5">
              <a:lumMod val="75000"/>
              <a:alpha val="12000"/>
            </a:schemeClr>
          </a:solidFill>
          <a:ln/>
        </p:spPr>
        <p:txBody>
          <a:bodyPr wrap="none" lIns="0" tIns="0" rIns="0" bIns="0" rtlCol="0" anchor="ctr">
            <a:normAutofit fontScale="62500" lnSpcReduction="20000"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04490" y="3872805"/>
            <a:ext cx="7616428" cy="152400"/>
          </a:xfrm>
          <a:prstGeom prst="roundRect">
            <a:avLst>
              <a:gd name="adj" fmla="val 59940000"/>
            </a:avLst>
          </a:prstGeom>
          <a:solidFill>
            <a:srgbClr val="2563EB">
              <a:alpha val="12000"/>
            </a:srgbClr>
          </a:solidFill>
          <a:ln/>
        </p:spPr>
        <p:txBody>
          <a:bodyPr wrap="none" lIns="0" tIns="0" rIns="0" bIns="0" rtlCol="0" anchor="ctr">
            <a:normAutofit fontScale="40000" lnSpcReduction="20000"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50926" y="4454868"/>
            <a:ext cx="7616428" cy="152400"/>
          </a:xfrm>
          <a:prstGeom prst="roundRect">
            <a:avLst>
              <a:gd name="adj" fmla="val 59940000"/>
            </a:avLst>
          </a:prstGeom>
          <a:solidFill>
            <a:srgbClr val="2563EB">
              <a:alpha val="12000"/>
            </a:srgbClr>
          </a:solidFill>
          <a:ln/>
        </p:spPr>
        <p:txBody>
          <a:bodyPr wrap="none" lIns="0" tIns="0" rIns="0" bIns="0" rtlCol="0" anchor="ctr">
            <a:normAutofit fontScale="40000" lnSpcReduction="20000"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72011" y="5083739"/>
            <a:ext cx="7024440" cy="152400"/>
          </a:xfrm>
          <a:prstGeom prst="roundRect">
            <a:avLst>
              <a:gd name="adj" fmla="val 59940000"/>
            </a:avLst>
          </a:prstGeom>
          <a:solidFill>
            <a:srgbClr val="2563EB">
              <a:alpha val="12000"/>
            </a:srgbClr>
          </a:solidFill>
          <a:ln/>
        </p:spPr>
        <p:txBody>
          <a:bodyPr wrap="none" lIns="0" tIns="0" rIns="0" bIns="0" rtlCol="0" anchor="ctr">
            <a:normAutofit fontScale="40000" lnSpcReduction="20000"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87561" y="-41970"/>
            <a:ext cx="81688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10233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Simple analysis from sample complaints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704490" y="1415355"/>
            <a:ext cx="21620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704490" y="1948755"/>
            <a:ext cx="21620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33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complaints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90849" y="1415355"/>
            <a:ext cx="21621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3490849" y="1948755"/>
            <a:ext cx="21621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33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cases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77359" y="1415355"/>
            <a:ext cx="21620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6277359" y="1948755"/>
            <a:ext cx="21620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33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Closed case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47549" y="2996505"/>
            <a:ext cx="8841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10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Status Open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821572" y="3033226"/>
            <a:ext cx="3497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10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40%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63786" y="3529905"/>
            <a:ext cx="1088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10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Status Pending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037314" y="3644205"/>
            <a:ext cx="3497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10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20%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34640" y="4135109"/>
            <a:ext cx="8258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10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 Progress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037314" y="4291905"/>
            <a:ext cx="3497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10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20%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99966" y="4734817"/>
            <a:ext cx="5149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10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Closed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037314" y="4939605"/>
            <a:ext cx="3497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10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20%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5872" y="588615"/>
            <a:ext cx="8332256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250"/>
              </a:lnSpc>
              <a:buNone/>
            </a:pPr>
            <a:r>
              <a:rPr lang="en-US" sz="7500" dirty="0">
                <a:solidFill>
                  <a:srgbClr val="10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</a:t>
            </a:r>
            <a:endParaRPr lang="en-US" sz="7500" dirty="0"/>
          </a:p>
        </p:txBody>
      </p:sp>
      <p:sp>
        <p:nvSpPr>
          <p:cNvPr id="3" name="Text 1"/>
          <p:cNvSpPr/>
          <p:nvPr/>
        </p:nvSpPr>
        <p:spPr>
          <a:xfrm>
            <a:off x="405872" y="2169765"/>
            <a:ext cx="8332256" cy="1051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8280"/>
              </a:lnSpc>
              <a:buNone/>
            </a:pPr>
            <a:r>
              <a:rPr lang="en-US" sz="5520" b="1" dirty="0">
                <a:solidFill>
                  <a:srgbClr val="2563E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Conclusion</a:t>
            </a:r>
            <a:endParaRPr lang="en-US" sz="5520" dirty="0"/>
          </a:p>
        </p:txBody>
      </p:sp>
      <p:sp>
        <p:nvSpPr>
          <p:cNvPr id="4" name="Text 2"/>
          <p:cNvSpPr/>
          <p:nvPr/>
        </p:nvSpPr>
        <p:spPr>
          <a:xfrm>
            <a:off x="914400" y="3411736"/>
            <a:ext cx="73152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33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Complaint Management System is an effective database-based solution for recording issues, managing staff action, and improving customer satisfaction through structured complaint handling.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05872" y="4364236"/>
            <a:ext cx="833225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5F7A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Thank you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653</Words>
  <Application>Microsoft Office PowerPoint</Application>
  <PresentationFormat>On-screen Show (16:9)</PresentationFormat>
  <Paragraphs>152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Inter</vt:lpstr>
      <vt:lpstr>Plus Jakarta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Suit Kumar</cp:lastModifiedBy>
  <cp:revision>3</cp:revision>
  <dcterms:created xsi:type="dcterms:W3CDTF">2026-04-29T08:47:38Z</dcterms:created>
  <dcterms:modified xsi:type="dcterms:W3CDTF">2026-04-29T09:27:58Z</dcterms:modified>
</cp:coreProperties>
</file>